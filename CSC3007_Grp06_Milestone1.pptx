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PT Sans Narrow"/>
      <p:regular r:id="rId23"/>
      <p:bold r:id="rId24"/>
    </p:embeddedFont>
    <p:embeddedFont>
      <p:font typeface="Open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TSansNarrow-bold.fntdata"/><Relationship Id="rId23" Type="http://schemas.openxmlformats.org/officeDocument/2006/relationships/font" Target="fonts/PTSansNarrow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bold.fntdata"/><Relationship Id="rId25" Type="http://schemas.openxmlformats.org/officeDocument/2006/relationships/font" Target="fonts/OpenSans-regular.fntdata"/><Relationship Id="rId28" Type="http://schemas.openxmlformats.org/officeDocument/2006/relationships/font" Target="fonts/OpenSans-boldItalic.fntdata"/><Relationship Id="rId27" Type="http://schemas.openxmlformats.org/officeDocument/2006/relationships/font" Target="fonts/Open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Pick 2 Visualizations to critique / validate based on data-task-idiom model and suggest improvements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Free to create your own dataset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What dataset is looking at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1ffdd11eee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1ffdd11eee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2a9b3dd080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2a9b3dd080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Choosing to critique / validate a good/bad visualization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Death cases base on pp that are fully vaccinated(with booster) , fully </a:t>
            </a:r>
            <a:r>
              <a:rPr lang="en"/>
              <a:t>vaccinated</a:t>
            </a:r>
            <a:r>
              <a:rPr lang="en"/>
              <a:t> (without booster) , Non -fully vaccinated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Based on: https://www.nytimes.com/2022/01/06/opinion/omicron-covid-us.html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476ff8164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3476ff8164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Choosing to critique / validate a good/bad visualization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Death cases base on pp that are fully vaccinated(with booster) , fully vaccinated (without booster) , Non -fully vaccinated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Based on: https://www.nytimes.com/2022/01/06/opinion/omicron-covid-us.html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1ffdd11eee_2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1ffdd11eee_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a traveller I would like to view the statistic in graph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2a9b3dd080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2a9b3dd080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1ffdd11eee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1ffdd11eee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363d5980a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363d5980a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1ffdd11eee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1ffdd11eee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the visualization 2 that we gonna critique will be the internet hacking attack attribution map \.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1ffdd11eee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1ffdd11eee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3476ff8164_5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13476ff8164_5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Choosing to critique / validate a good/bad visualization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Death cases base on pp that are fully vaccinated(with booster) , fully vaccinated (without booster) , Non -fully vaccinated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1ffdd11eee_2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11ffdd11eee_2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1ffdd11eee_2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11ffdd11eee_2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1ffdd11eee_2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11ffdd11eee_2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363d5980a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363d5980a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363d5980a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363d5980a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3476ff8164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13476ff8164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13"/>
          <p:cNvGrpSpPr/>
          <p:nvPr/>
        </p:nvGrpSpPr>
        <p:grpSpPr>
          <a:xfrm>
            <a:off x="0" y="-1353525"/>
            <a:ext cx="2972525" cy="2681400"/>
            <a:chOff x="0" y="-1353525"/>
            <a:chExt cx="2972525" cy="2681400"/>
          </a:xfrm>
        </p:grpSpPr>
        <p:sp>
          <p:nvSpPr>
            <p:cNvPr id="64" name="Google Shape;64;p13"/>
            <p:cNvSpPr/>
            <p:nvPr/>
          </p:nvSpPr>
          <p:spPr>
            <a:xfrm>
              <a:off x="0" y="-1353525"/>
              <a:ext cx="2681400" cy="2681400"/>
            </a:xfrm>
            <a:prstGeom prst="pie">
              <a:avLst>
                <a:gd fmla="val 0" name="adj1"/>
                <a:gd fmla="val 10807826" name="adj2"/>
              </a:avLst>
            </a:prstGeom>
            <a:solidFill>
              <a:srgbClr val="EC66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233950" y="1030275"/>
              <a:ext cx="297600" cy="297600"/>
            </a:xfrm>
            <a:prstGeom prst="ellipse">
              <a:avLst/>
            </a:prstGeom>
            <a:solidFill>
              <a:srgbClr val="78DD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2775125" y="119225"/>
              <a:ext cx="197400" cy="197400"/>
            </a:xfrm>
            <a:prstGeom prst="ellipse">
              <a:avLst/>
            </a:prstGeom>
            <a:solidFill>
              <a:srgbClr val="EC66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</p:grpSp>
      <p:sp>
        <p:nvSpPr>
          <p:cNvPr id="67" name="Google Shape;67;p13"/>
          <p:cNvSpPr txBox="1"/>
          <p:nvPr>
            <p:ph type="ctrTitle"/>
          </p:nvPr>
        </p:nvSpPr>
        <p:spPr>
          <a:xfrm>
            <a:off x="713225" y="1526000"/>
            <a:ext cx="4891500" cy="225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 sz="5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713400" y="4246175"/>
            <a:ext cx="4267500" cy="36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Visualization Critiques</a:t>
            </a:r>
            <a:endParaRPr/>
          </a:p>
        </p:txBody>
      </p:sp>
      <p:sp>
        <p:nvSpPr>
          <p:cNvPr id="74" name="Google Shape;74;p14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Milestone 1</a:t>
            </a:r>
            <a:endParaRPr/>
          </a:p>
        </p:txBody>
      </p:sp>
      <p:sp>
        <p:nvSpPr>
          <p:cNvPr id="75" name="Google Shape;75;p14"/>
          <p:cNvSpPr txBox="1"/>
          <p:nvPr/>
        </p:nvSpPr>
        <p:spPr>
          <a:xfrm>
            <a:off x="1350025" y="4552175"/>
            <a:ext cx="642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1004150" y="4423425"/>
            <a:ext cx="713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Group 6 : Chen Nili (1901883) , Lin Shixuan (1901849), Wu JiaJie (1901828)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Visualization 1: Coronavirus cases in Spiral Chart</a:t>
            </a:r>
            <a:endParaRPr/>
          </a:p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311700" y="1266325"/>
            <a:ext cx="4878300" cy="35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spiral chart depicts the number of new Covid-19 cases from 2020 to 2022.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Designer incorporates all the months of the year, divided into quadrants on the spiral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“black line” in the middle of the spiral is not a discriminator, but it draws the outline of the spiral chart vividly. (I.e., backbone)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Clockwise-oriented</a:t>
            </a:r>
            <a:endParaRPr/>
          </a:p>
        </p:txBody>
      </p:sp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0000" y="1065600"/>
            <a:ext cx="3642150" cy="358703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/>
          <p:nvPr/>
        </p:nvSpPr>
        <p:spPr>
          <a:xfrm>
            <a:off x="5501700" y="4404250"/>
            <a:ext cx="3642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Source: https://flowingdata.com/2022/01/07/spiral-graph-to-show-covid-19-cases/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(Data) - “What data the user sees”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 txBox="1"/>
          <p:nvPr>
            <p:ph idx="1" type="body"/>
          </p:nvPr>
        </p:nvSpPr>
        <p:spPr>
          <a:xfrm>
            <a:off x="311700" y="1322450"/>
            <a:ext cx="4383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u="sng"/>
              <a:t>Difficulties</a:t>
            </a:r>
            <a:endParaRPr sz="7200" u="sng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7200"/>
              <a:t>The legend of the chart shows the spike in the number of cases in denominations of 150K but it does not account for other lower denominations</a:t>
            </a:r>
            <a:endParaRPr sz="72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7200"/>
              <a:t>The 7-day average shown in the chart is ambiguous</a:t>
            </a:r>
            <a:endParaRPr sz="72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 u="sng"/>
          </a:p>
        </p:txBody>
      </p:sp>
      <p:pic>
        <p:nvPicPr>
          <p:cNvPr id="91" name="Google Shape;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0150" y="1266325"/>
            <a:ext cx="3642150" cy="358703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/>
          <p:nvPr/>
        </p:nvSpPr>
        <p:spPr>
          <a:xfrm>
            <a:off x="5473550" y="1438450"/>
            <a:ext cx="1134300" cy="527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7530950" y="1966150"/>
            <a:ext cx="554100" cy="330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1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(Data) - “What data the user sees”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311700" y="1322450"/>
            <a:ext cx="4383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u="sng"/>
              <a:t>Difficulties</a:t>
            </a:r>
            <a:endParaRPr sz="72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7200"/>
              <a:t>The month shown are in every quarter, if the user wants to see a specific month they are required to count the months </a:t>
            </a:r>
            <a:endParaRPr sz="72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7200"/>
              <a:t>There are no tooltips provided upon hovering over the visualisation</a:t>
            </a:r>
            <a:endParaRPr sz="72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 u="sng"/>
          </a:p>
        </p:txBody>
      </p:sp>
      <p:pic>
        <p:nvPicPr>
          <p:cNvPr id="100" name="Google Shape;10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0150" y="1266325"/>
            <a:ext cx="3642150" cy="358703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1" name="Google Shape;101;p17"/>
          <p:cNvCxnSpPr/>
          <p:nvPr/>
        </p:nvCxnSpPr>
        <p:spPr>
          <a:xfrm>
            <a:off x="7201250" y="1504425"/>
            <a:ext cx="3297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" name="Google Shape;102;p17"/>
          <p:cNvCxnSpPr/>
          <p:nvPr/>
        </p:nvCxnSpPr>
        <p:spPr>
          <a:xfrm>
            <a:off x="5335825" y="3451925"/>
            <a:ext cx="3297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" name="Google Shape;103;p17"/>
          <p:cNvCxnSpPr/>
          <p:nvPr/>
        </p:nvCxnSpPr>
        <p:spPr>
          <a:xfrm>
            <a:off x="7201250" y="4853350"/>
            <a:ext cx="3297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7"/>
          <p:cNvCxnSpPr/>
          <p:nvPr/>
        </p:nvCxnSpPr>
        <p:spPr>
          <a:xfrm>
            <a:off x="8383825" y="3451925"/>
            <a:ext cx="3297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(Task) - “User intent to use visualization tools”</a:t>
            </a:r>
            <a:endParaRPr/>
          </a:p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253375" y="11524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designer opted for a  Spiral Chart representation, which is effective for a time-series data for Covid-19 cases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Characteristics include: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Trend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Seasonality (Day-by-day, period-by-period)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Designer intended to take an artistic route in visualising the covid-19 cases without using a standard linear modelling diagram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months were split across 12 section, each indicating a month. Despite the spatial restrictions, the designer manage to segment parts of the visualisation to provide more information to the audience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40"/>
              <a:t>How (Idiom) </a:t>
            </a:r>
            <a:r>
              <a:rPr lang="en" sz="2940"/>
              <a:t>- “How the visualization idioms are constructed”</a:t>
            </a:r>
            <a:endParaRPr sz="2940"/>
          </a:p>
        </p:txBody>
      </p:sp>
      <p:sp>
        <p:nvSpPr>
          <p:cNvPr id="116" name="Google Shape;116;p19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Expressiveness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visualisation uses a single colour to represent the entire data flow.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Effectiveness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accuracy of how many cases are there in a month is very vague as there is no clear indication of the quantitative data.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visualisation uses month as a </a:t>
            </a:r>
            <a:r>
              <a:rPr lang="en"/>
              <a:t>Separability </a:t>
            </a:r>
            <a:r>
              <a:rPr lang="en"/>
              <a:t>principle, however it is still difficult on first glance to locate a specific month and year. 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Suggestions on Visualization 1</a:t>
            </a:r>
            <a:endParaRPr/>
          </a:p>
        </p:txBody>
      </p:sp>
      <p:sp>
        <p:nvSpPr>
          <p:cNvPr id="122" name="Google Shape;122;p20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Colours </a:t>
            </a:r>
            <a:r>
              <a:rPr lang="en"/>
              <a:t>could be implemented to each period to break them up and provide better comparison between each period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Since the chart is read from the centre of the spiral, there should be a </a:t>
            </a:r>
            <a:r>
              <a:rPr b="1" lang="en"/>
              <a:t>larger indicator </a:t>
            </a:r>
            <a:r>
              <a:rPr lang="en"/>
              <a:t>of where a user should begin their initial gaze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lack of interactivity makes it </a:t>
            </a:r>
            <a:r>
              <a:rPr b="1" lang="en"/>
              <a:t>difficult to drill-down</a:t>
            </a:r>
            <a:r>
              <a:rPr lang="en"/>
              <a:t> each period’s </a:t>
            </a:r>
            <a:r>
              <a:rPr lang="en"/>
              <a:t>data points</a:t>
            </a:r>
            <a:r>
              <a:rPr lang="en"/>
              <a:t> accurately, therefore concepts such as annotation, view manipulation should be implemented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</a:t>
            </a:r>
            <a:r>
              <a:rPr b="1" lang="en"/>
              <a:t>legend</a:t>
            </a:r>
            <a:r>
              <a:rPr lang="en"/>
              <a:t> is vague and meaningless. Instead of an area distribution from the center, a bar chart from the origin allows the designer to do a legend with various heights to account for larger/smaller data points.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Solution for Visualization 1</a:t>
            </a:r>
            <a:endParaRPr/>
          </a:p>
        </p:txBody>
      </p:sp>
      <p:pic>
        <p:nvPicPr>
          <p:cNvPr id="128" name="Google Shape;12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6637" y="1152425"/>
            <a:ext cx="3235977" cy="3302699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1"/>
          <p:cNvSpPr txBox="1"/>
          <p:nvPr/>
        </p:nvSpPr>
        <p:spPr>
          <a:xfrm>
            <a:off x="1104425" y="4379125"/>
            <a:ext cx="302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Open Sans"/>
                <a:ea typeface="Open Sans"/>
                <a:cs typeface="Open Sans"/>
                <a:sym typeface="Open Sans"/>
              </a:rPr>
              <a:t>Spiral Chart with Bar Height to indicate Peak/Lowest point</a:t>
            </a:r>
            <a:endParaRPr i="1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0" name="Google Shape;130;p21"/>
          <p:cNvPicPr preferRelativeResize="0"/>
          <p:nvPr/>
        </p:nvPicPr>
        <p:blipFill rotWithShape="1">
          <a:blip r:embed="rId4">
            <a:alphaModFix/>
          </a:blip>
          <a:srcRect b="0" l="18498" r="18194" t="0"/>
          <a:stretch/>
        </p:blipFill>
        <p:spPr>
          <a:xfrm>
            <a:off x="4972763" y="1014725"/>
            <a:ext cx="3020400" cy="3578103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1"/>
          <p:cNvSpPr txBox="1"/>
          <p:nvPr/>
        </p:nvSpPr>
        <p:spPr>
          <a:xfrm>
            <a:off x="4818563" y="4379125"/>
            <a:ext cx="3328800" cy="615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Open Sans"/>
                <a:ea typeface="Open Sans"/>
                <a:cs typeface="Open Sans"/>
                <a:sym typeface="Open Sans"/>
              </a:rPr>
              <a:t>Radial Chart used to compare different categories, i.e., Infection over Period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Visualization 2: Internet Hacking Attack Attribution Map</a:t>
            </a:r>
            <a:endParaRPr/>
          </a:p>
        </p:txBody>
      </p:sp>
      <p:sp>
        <p:nvSpPr>
          <p:cNvPr id="137" name="Google Shape;137;p22"/>
          <p:cNvSpPr txBox="1"/>
          <p:nvPr>
            <p:ph idx="1" type="body"/>
          </p:nvPr>
        </p:nvSpPr>
        <p:spPr>
          <a:xfrm>
            <a:off x="4057525" y="4710300"/>
            <a:ext cx="32700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/>
              <a:t>Source </a:t>
            </a:r>
            <a:r>
              <a:rPr lang="en" sz="1200"/>
              <a:t>on:  https://threatbutt.com/map/</a:t>
            </a:r>
            <a:endParaRPr sz="1500"/>
          </a:p>
        </p:txBody>
      </p:sp>
      <p:pic>
        <p:nvPicPr>
          <p:cNvPr id="138" name="Google Shape;13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7525" y="1152425"/>
            <a:ext cx="4885249" cy="3557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2"/>
          <p:cNvSpPr txBox="1"/>
          <p:nvPr/>
        </p:nvSpPr>
        <p:spPr>
          <a:xfrm>
            <a:off x="226750" y="1169525"/>
            <a:ext cx="356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" name="Google Shape;140;p22"/>
          <p:cNvSpPr txBox="1"/>
          <p:nvPr/>
        </p:nvSpPr>
        <p:spPr>
          <a:xfrm>
            <a:off x="290275" y="1219200"/>
            <a:ext cx="307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1" name="Google Shape;141;p22"/>
          <p:cNvSpPr txBox="1"/>
          <p:nvPr/>
        </p:nvSpPr>
        <p:spPr>
          <a:xfrm>
            <a:off x="269200" y="1077625"/>
            <a:ext cx="34833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●"/>
            </a:pPr>
            <a:r>
              <a:rPr lang="en" sz="16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This Internet Hacking Attack Attribution tracks cyber attacks in real time, showing the location and IP address of the source and target of each attack. </a:t>
            </a:r>
            <a:endParaRPr sz="16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 sz="16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It also adds small bits of commentary to indicate the severity of the each attack:  Notes such as “We’ll just call it a glitch” indicate small or minor attacks, while things like “It’s cyber Pompeii!” indicate large or widespread attacks</a:t>
            </a: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(Data) - “What data the user sees”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3"/>
          <p:cNvSpPr txBox="1"/>
          <p:nvPr>
            <p:ph idx="1" type="body"/>
          </p:nvPr>
        </p:nvSpPr>
        <p:spPr>
          <a:xfrm>
            <a:off x="311700" y="1155675"/>
            <a:ext cx="3514800" cy="35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 u="sng"/>
              <a:t>Difficulties</a:t>
            </a:r>
            <a:endParaRPr sz="5600" u="sng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5600"/>
              <a:t>The arc line showing in the map only has a red colour, which </a:t>
            </a:r>
            <a:r>
              <a:rPr b="1" lang="en" sz="5600"/>
              <a:t>does not break down the attacks by colour</a:t>
            </a:r>
            <a:r>
              <a:rPr lang="en" sz="5600"/>
              <a:t>, e.g. red for critical attacks, orange for high severity, blue for medium.</a:t>
            </a:r>
            <a:endParaRPr sz="56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 sz="5600"/>
              <a:t>No “hover-over” details</a:t>
            </a:r>
            <a:r>
              <a:rPr lang="en" sz="5600"/>
              <a:t> on the arc line</a:t>
            </a:r>
            <a:endParaRPr sz="56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5600"/>
              <a:t>The white circle that </a:t>
            </a:r>
            <a:r>
              <a:rPr b="1" lang="en" sz="5600"/>
              <a:t>allows interactivity</a:t>
            </a:r>
            <a:r>
              <a:rPr lang="en" sz="5600"/>
              <a:t> for user to hover on and view the tooltip. However, the tooltip has a perceived affordance as it disappears at the slightest move of the cursor </a:t>
            </a:r>
            <a:endParaRPr sz="5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 u="sng"/>
          </a:p>
        </p:txBody>
      </p:sp>
      <p:pic>
        <p:nvPicPr>
          <p:cNvPr id="148" name="Google Shape;14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7525" y="1152425"/>
            <a:ext cx="4885249" cy="355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(Data) - “What data the user sees”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4"/>
          <p:cNvSpPr txBox="1"/>
          <p:nvPr>
            <p:ph idx="1" type="body"/>
          </p:nvPr>
        </p:nvSpPr>
        <p:spPr>
          <a:xfrm>
            <a:off x="311700" y="1344500"/>
            <a:ext cx="2999100" cy="35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2669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6179"/>
              <a:t>Live attack details like the software is being used to attack with the source, and destination details was shown in a very unclear text format. </a:t>
            </a:r>
            <a:endParaRPr sz="6179"/>
          </a:p>
          <a:p>
            <a:pPr indent="-32669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6179"/>
              <a:t>Users may see the country name while hovering over it on the map but cannot select it to view more details or zoom in or out on the map. </a:t>
            </a:r>
            <a:endParaRPr sz="6179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 u="sng"/>
          </a:p>
        </p:txBody>
      </p:sp>
      <p:pic>
        <p:nvPicPr>
          <p:cNvPr id="155" name="Google Shape;155;p24"/>
          <p:cNvPicPr preferRelativeResize="0"/>
          <p:nvPr/>
        </p:nvPicPr>
        <p:blipFill rotWithShape="1">
          <a:blip r:embed="rId3">
            <a:alphaModFix/>
          </a:blip>
          <a:srcRect b="0" l="0" r="6664" t="0"/>
          <a:stretch/>
        </p:blipFill>
        <p:spPr>
          <a:xfrm>
            <a:off x="3949400" y="1212500"/>
            <a:ext cx="4882898" cy="3557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4"/>
          <p:cNvSpPr/>
          <p:nvPr/>
        </p:nvSpPr>
        <p:spPr>
          <a:xfrm>
            <a:off x="6538150" y="2665750"/>
            <a:ext cx="423900" cy="369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(Task) - “User intent to use visualization tools”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5"/>
          <p:cNvSpPr txBox="1"/>
          <p:nvPr>
            <p:ph idx="1" type="body"/>
          </p:nvPr>
        </p:nvSpPr>
        <p:spPr>
          <a:xfrm>
            <a:off x="311700" y="11524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designer wants to design a simple retro-style map. The map and the live feed colour and style look more like a "Command Prompt, " making it very cool and unique.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designer improve the the user engagement by displaying the severity level for each attack as remark such as "We'll just call it a glitch," indicating small or minor attacks. In contrast, things like "It's cyber Pompeii!" show significant or widespread attacks.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33673"/>
              <a:buFont typeface="Arial"/>
              <a:buNone/>
            </a:pPr>
            <a:r>
              <a:rPr lang="en" sz="2940"/>
              <a:t>How (Idiom) - “How the visualization idioms are constructed”</a:t>
            </a:r>
            <a:endParaRPr sz="29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6"/>
          <p:cNvSpPr txBox="1"/>
          <p:nvPr>
            <p:ph idx="1" type="body"/>
          </p:nvPr>
        </p:nvSpPr>
        <p:spPr>
          <a:xfrm>
            <a:off x="311700" y="1266325"/>
            <a:ext cx="8520600" cy="32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Expressiveness 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The visualisation uses single color to </a:t>
            </a:r>
            <a:r>
              <a:rPr lang="en" sz="1400"/>
              <a:t>represent</a:t>
            </a:r>
            <a:r>
              <a:rPr lang="en" sz="1400"/>
              <a:t> the severity of attack from one country to another.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Effectiveness 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The country name displayed in live attack details is in abbreviated form rather than the complete form.</a:t>
            </a:r>
            <a:endParaRPr sz="1400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Tooltips and annotation are present, showing encodings of a specific region of the map. However, the usability of the “hover” status is not consistent as it disappears </a:t>
            </a:r>
            <a:r>
              <a:rPr lang="en" sz="1400"/>
              <a:t>occasionally</a:t>
            </a:r>
            <a:r>
              <a:rPr lang="en" sz="1400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Suggestions on Visualization 2</a:t>
            </a:r>
            <a:endParaRPr/>
          </a:p>
        </p:txBody>
      </p:sp>
      <p:sp>
        <p:nvSpPr>
          <p:cNvPr id="174" name="Google Shape;174;p2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E101A"/>
              </a:buClr>
              <a:buSzPts val="1100"/>
              <a:buFont typeface="Arial"/>
              <a:buChar char="●"/>
            </a:pPr>
            <a:r>
              <a:rPr lang="en"/>
              <a:t>Different</a:t>
            </a:r>
            <a:r>
              <a:rPr lang="en"/>
              <a:t> arc line colours </a:t>
            </a:r>
            <a:r>
              <a:rPr lang="en"/>
              <a:t>indicate</a:t>
            </a:r>
            <a:r>
              <a:rPr lang="en"/>
              <a:t> the </a:t>
            </a:r>
            <a:r>
              <a:rPr lang="en"/>
              <a:t>severity</a:t>
            </a:r>
            <a:r>
              <a:rPr lang="en"/>
              <a:t> level of the attacks.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E101A"/>
              </a:buClr>
              <a:buSzPts val="1100"/>
              <a:buFont typeface="Arial"/>
              <a:buChar char="●"/>
            </a:pPr>
            <a:r>
              <a:rPr lang="en"/>
              <a:t>Live attacks details can be shown in a clear table format.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E101A"/>
              </a:buClr>
              <a:buSzPts val="1100"/>
              <a:buFont typeface="Arial"/>
              <a:buChar char="●"/>
            </a:pPr>
            <a:r>
              <a:rPr lang="en"/>
              <a:t>Hovering over the arc line reveals information on the source and destination country.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E101A"/>
              </a:buClr>
              <a:buSzPts val="1100"/>
              <a:buFont typeface="Arial"/>
              <a:buChar char="●"/>
            </a:pPr>
            <a:r>
              <a:rPr lang="en"/>
              <a:t>The map can be more interactive by allowing users to pick certain countries to see more attack details on the </a:t>
            </a:r>
            <a:r>
              <a:rPr lang="en"/>
              <a:t>specific</a:t>
            </a:r>
            <a:r>
              <a:rPr lang="en"/>
              <a:t> country</a:t>
            </a:r>
            <a:r>
              <a:rPr lang="en" sz="1100">
                <a:solidFill>
                  <a:srgbClr val="0E101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E10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test" id="175" name="Google Shape;175;p27" title="Example of the solutio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7450" y="3349975"/>
            <a:ext cx="5508951" cy="147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Solution for Visualization 2</a:t>
            </a:r>
            <a:endParaRPr/>
          </a:p>
        </p:txBody>
      </p:sp>
      <p:pic>
        <p:nvPicPr>
          <p:cNvPr id="181" name="Google Shape;181;p28"/>
          <p:cNvPicPr preferRelativeResize="0"/>
          <p:nvPr/>
        </p:nvPicPr>
        <p:blipFill rotWithShape="1">
          <a:blip r:embed="rId3">
            <a:alphaModFix/>
          </a:blip>
          <a:srcRect b="11497" l="0" r="1632" t="27925"/>
          <a:stretch/>
        </p:blipFill>
        <p:spPr>
          <a:xfrm>
            <a:off x="0" y="1152425"/>
            <a:ext cx="9144000" cy="3163976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8"/>
          <p:cNvSpPr txBox="1"/>
          <p:nvPr/>
        </p:nvSpPr>
        <p:spPr>
          <a:xfrm>
            <a:off x="1104425" y="4379125"/>
            <a:ext cx="7012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Open Sans"/>
                <a:ea typeface="Open Sans"/>
                <a:cs typeface="Open Sans"/>
                <a:sym typeface="Open Sans"/>
              </a:rPr>
              <a:t>Kaspersky Real-Time Cyberthreat Map: </a:t>
            </a:r>
            <a:endParaRPr b="1" i="1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Open Sans"/>
                <a:ea typeface="Open Sans"/>
                <a:cs typeface="Open Sans"/>
                <a:sym typeface="Open Sans"/>
              </a:rPr>
              <a:t>Quantifies the type of attack and output on a </a:t>
            </a:r>
            <a:r>
              <a:rPr i="1" lang="en">
                <a:latin typeface="Open Sans"/>
                <a:ea typeface="Open Sans"/>
                <a:cs typeface="Open Sans"/>
                <a:sym typeface="Open Sans"/>
              </a:rPr>
              <a:t>side panel</a:t>
            </a:r>
            <a:r>
              <a:rPr i="1" lang="en">
                <a:latin typeface="Open Sans"/>
                <a:ea typeface="Open Sans"/>
                <a:cs typeface="Open Sans"/>
                <a:sym typeface="Open Sans"/>
              </a:rPr>
              <a:t> upon selection</a:t>
            </a:r>
            <a:endParaRPr i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Solution for Visualization 2</a:t>
            </a:r>
            <a:endParaRPr/>
          </a:p>
        </p:txBody>
      </p:sp>
      <p:sp>
        <p:nvSpPr>
          <p:cNvPr id="188" name="Google Shape;188;p29"/>
          <p:cNvSpPr txBox="1"/>
          <p:nvPr/>
        </p:nvSpPr>
        <p:spPr>
          <a:xfrm>
            <a:off x="959025" y="4379125"/>
            <a:ext cx="7225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Open Sans"/>
                <a:ea typeface="Open Sans"/>
                <a:cs typeface="Open Sans"/>
                <a:sym typeface="Open Sans"/>
              </a:rPr>
              <a:t>FireEye</a:t>
            </a:r>
            <a:r>
              <a:rPr b="1" i="1" lang="en">
                <a:latin typeface="Open Sans"/>
                <a:ea typeface="Open Sans"/>
                <a:cs typeface="Open Sans"/>
                <a:sym typeface="Open Sans"/>
              </a:rPr>
              <a:t> Real-Time Threat Map: </a:t>
            </a:r>
            <a:endParaRPr b="1" i="1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Open Sans"/>
                <a:ea typeface="Open Sans"/>
                <a:cs typeface="Open Sans"/>
                <a:sym typeface="Open Sans"/>
              </a:rPr>
              <a:t>Better use of Colours, Distinguish between Attacker/Victim, Severity of Attack Highlighted </a:t>
            </a:r>
            <a:endParaRPr i="1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89" name="Google Shape;18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9150" y="1152425"/>
            <a:ext cx="7225711" cy="326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/>
          <p:nvPr>
            <p:ph idx="1" type="body"/>
          </p:nvPr>
        </p:nvSpPr>
        <p:spPr>
          <a:xfrm>
            <a:off x="2044550" y="1779525"/>
            <a:ext cx="5188800" cy="13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6000"/>
              <a:t>THANK YOU !</a:t>
            </a:r>
            <a:endParaRPr b="1" sz="6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